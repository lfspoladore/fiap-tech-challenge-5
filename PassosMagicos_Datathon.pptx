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8" r:id="rId5"/>
    <p:sldId id="260" r:id="rId6"/>
    <p:sldId id="261" r:id="rId7"/>
    <p:sldId id="272" r:id="rId8"/>
    <p:sldId id="273" r:id="rId9"/>
    <p:sldId id="274" r:id="rId10"/>
    <p:sldId id="275" r:id="rId11"/>
    <p:sldId id="276" r:id="rId12"/>
    <p:sldId id="277" r:id="rId13"/>
    <p:sldId id="264" r:id="rId14"/>
    <p:sldId id="265" r:id="rId15"/>
    <p:sldId id="266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2A"/>
    <a:srgbClr val="00897B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D1B2A"/>
                </a:solidFill>
                <a:latin typeface="Arial"/>
              </a:rPr>
              <a:t>Comparação de Modelos — Métricas de Avaliação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00897B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 i="0" u="none" strike="noStrike" baseline="0" dirty="0">
                        <a:effectLst/>
                      </a:rPr>
                      <a:t>0,665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73B-4998-9758-182E74B7475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200" b="0" i="0" u="none" strike="noStrike" baseline="0" dirty="0">
                        <a:effectLst/>
                      </a:rPr>
                      <a:t>0,659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73B-4998-9758-182E74B7475C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Gradient Boosting</c:v>
                </c:pt>
                <c:pt idx="1">
                  <c:v>Random Forest</c:v>
                </c:pt>
                <c:pt idx="2">
                  <c:v>Reg. Logística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0.66564500000000004</c:v>
                </c:pt>
                <c:pt idx="1">
                  <c:v>0.68919900000000001</c:v>
                </c:pt>
                <c:pt idx="2">
                  <c:v>0.65987300000000004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73B-4998-9758-182E74B7475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F1-Score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200" b="0" i="0" u="none" strike="noStrike" baseline="0" dirty="0">
                        <a:effectLst/>
                      </a:rPr>
                      <a:t>0,764</a:t>
                    </a:r>
                    <a:endParaRPr lang="en-US" dirty="0"/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73B-4998-9758-182E74B7475C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Gradient Boosting</c:v>
                </c:pt>
                <c:pt idx="1">
                  <c:v>Random Forest</c:v>
                </c:pt>
                <c:pt idx="2">
                  <c:v>Reg. Logística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0.76458800000000005</c:v>
                </c:pt>
                <c:pt idx="1">
                  <c:v>0.76124599999999998</c:v>
                </c:pt>
                <c:pt idx="2">
                  <c:v>0.72799999999999998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73B-4998-9758-182E74B7475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1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pt-B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3424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3031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944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201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2150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889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6562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93447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fiap-tech-challenge-5-ah5kxan2ynxeqgarnunaqc.streamlit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457200"/>
            <a:ext cx="3200400" cy="3200400"/>
          </a:xfrm>
          <a:prstGeom prst="ellipse">
            <a:avLst/>
          </a:prstGeom>
          <a:solidFill>
            <a:srgbClr val="00897B">
              <a:alpha val="15000"/>
            </a:srgbClr>
          </a:solidFill>
          <a:ln w="12700">
            <a:solidFill>
              <a:srgbClr val="00897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560320"/>
            <a:ext cx="1828800" cy="1828800"/>
          </a:xfrm>
          <a:prstGeom prst="ellipse">
            <a:avLst/>
          </a:prstGeom>
          <a:solidFill>
            <a:srgbClr val="FFC107">
              <a:alpha val="12000"/>
            </a:srgbClr>
          </a:solidFill>
          <a:ln w="12700">
            <a:solidFill>
              <a:srgbClr val="FFC107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02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800" dirty="0">
                <a:solidFill>
                  <a:srgbClr val="26A69A"/>
                </a:solidFill>
              </a:rPr>
              <a:t>DATATHON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77724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Passos Mágicos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457200" y="233172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B2DFDB"/>
                </a:solidFill>
              </a:rPr>
              <a:t>Análise de Dados Educacionais 2022–2024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457200" y="28803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 err="1">
                <a:solidFill>
                  <a:srgbClr val="FFC107"/>
                </a:solidFill>
              </a:rPr>
              <a:t>Diagnóstico</a:t>
            </a:r>
            <a:r>
              <a:rPr lang="en-US" sz="1600" dirty="0">
                <a:solidFill>
                  <a:srgbClr val="FFC107"/>
                </a:solidFill>
              </a:rPr>
              <a:t> e </a:t>
            </a:r>
            <a:r>
              <a:rPr lang="en-US" sz="1600" dirty="0" err="1">
                <a:solidFill>
                  <a:srgbClr val="FFC107"/>
                </a:solidFill>
              </a:rPr>
              <a:t>Modelo</a:t>
            </a:r>
            <a:r>
              <a:rPr lang="en-US" sz="1600" dirty="0">
                <a:solidFill>
                  <a:srgbClr val="FFC107"/>
                </a:solidFill>
              </a:rPr>
              <a:t> Preditivo de Risco de Defasagem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429000"/>
            <a:ext cx="3200400" cy="45720"/>
          </a:xfrm>
          <a:prstGeom prst="rect">
            <a:avLst/>
          </a:prstGeom>
          <a:solidFill>
            <a:srgbClr val="26A69A"/>
          </a:solidFill>
          <a:ln w="12700">
            <a:solidFill>
              <a:srgbClr val="26A6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 err="1">
                <a:solidFill>
                  <a:srgbClr val="64748B"/>
                </a:solidFill>
              </a:rPr>
              <a:t>PosTech</a:t>
            </a:r>
            <a:r>
              <a:rPr lang="en-US" sz="1200" i="1" dirty="0">
                <a:solidFill>
                  <a:srgbClr val="64748B"/>
                </a:solidFill>
              </a:rPr>
              <a:t> FIAP — 10Dat — Grupo 29 — Tech Challenge 5 —  2026</a:t>
            </a:r>
          </a:p>
          <a:p>
            <a:pPr marL="0" indent="0">
              <a:buNone/>
            </a:pPr>
            <a:endParaRPr lang="en-US" sz="1200" i="1" dirty="0">
              <a:solidFill>
                <a:srgbClr val="64748B"/>
              </a:solidFill>
            </a:endParaRPr>
          </a:p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Gustavo Pedro e Luis Amaral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</a:rPr>
              <a:t>Associação Passos Mágicos  |  35 </a:t>
            </a:r>
            <a:r>
              <a:rPr lang="en-US" sz="1100" dirty="0" err="1">
                <a:solidFill>
                  <a:srgbClr val="B2DFDB"/>
                </a:solidFill>
              </a:rPr>
              <a:t>anos</a:t>
            </a:r>
            <a:r>
              <a:rPr lang="en-US" sz="1100" dirty="0">
                <a:solidFill>
                  <a:srgbClr val="B2DFDB"/>
                </a:solidFill>
              </a:rPr>
              <a:t> </a:t>
            </a:r>
            <a:r>
              <a:rPr lang="en-US" sz="1100" dirty="0" err="1">
                <a:solidFill>
                  <a:srgbClr val="B2DFDB"/>
                </a:solidFill>
              </a:rPr>
              <a:t>transformando</a:t>
            </a:r>
            <a:r>
              <a:rPr lang="en-US" sz="1100" dirty="0">
                <a:solidFill>
                  <a:srgbClr val="B2DFDB"/>
                </a:solidFill>
              </a:rPr>
              <a:t> </a:t>
            </a:r>
            <a:r>
              <a:rPr lang="en-US" sz="1100" dirty="0" err="1">
                <a:solidFill>
                  <a:srgbClr val="B2DFDB"/>
                </a:solidFill>
              </a:rPr>
              <a:t>vidas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Sobre o Projeto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743200" cy="10972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115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897B"/>
                </a:solidFill>
              </a:rPr>
              <a:t>A Associação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D1B2A"/>
                </a:solidFill>
              </a:rPr>
              <a:t>A </a:t>
            </a:r>
            <a:r>
              <a:rPr lang="en-US" sz="1150" b="1" dirty="0">
                <a:solidFill>
                  <a:srgbClr val="0D1B2A"/>
                </a:solidFill>
              </a:rPr>
              <a:t>Passos Mágicos </a:t>
            </a:r>
            <a:r>
              <a:rPr lang="en-US" sz="1150" dirty="0">
                <a:solidFill>
                  <a:srgbClr val="0D1B2A"/>
                </a:solidFill>
              </a:rPr>
              <a:t>atua há </a:t>
            </a:r>
            <a:r>
              <a:rPr lang="en-US" sz="1150" b="1" dirty="0">
                <a:solidFill>
                  <a:srgbClr val="0D1B2A"/>
                </a:solidFill>
              </a:rPr>
              <a:t>35 anos </a:t>
            </a:r>
            <a:r>
              <a:rPr lang="en-US" sz="1150" dirty="0">
                <a:solidFill>
                  <a:srgbClr val="0D1B2A"/>
                </a:solidFill>
              </a:rPr>
              <a:t>transformando a vida de crianças e </a:t>
            </a:r>
            <a:r>
              <a:rPr lang="en-US" sz="1150" b="1" dirty="0">
                <a:solidFill>
                  <a:srgbClr val="0D1B2A"/>
                </a:solidFill>
              </a:rPr>
              <a:t>jovens em situação de vulnerabilidade </a:t>
            </a:r>
            <a:r>
              <a:rPr lang="en-US" sz="1150" dirty="0">
                <a:solidFill>
                  <a:srgbClr val="0D1B2A"/>
                </a:solidFill>
              </a:rPr>
              <a:t>social em Embu-Guaçu, por meio de </a:t>
            </a:r>
            <a:r>
              <a:rPr lang="en-US" sz="1150" b="1" dirty="0">
                <a:solidFill>
                  <a:srgbClr val="0D1B2A"/>
                </a:solidFill>
              </a:rPr>
              <a:t>educação de qualidade, apoio psicológico </a:t>
            </a:r>
            <a:r>
              <a:rPr lang="en-US" sz="1150" dirty="0">
                <a:solidFill>
                  <a:srgbClr val="0D1B2A"/>
                </a:solidFill>
              </a:rPr>
              <a:t>e ampliação do protagonismo.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9601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960120"/>
            <a:ext cx="2743200" cy="10972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115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O Desafio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37560" y="16002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Utilizando dados</a:t>
            </a:r>
            <a:r>
              <a:rPr lang="en-US" sz="1150" dirty="0">
                <a:solidFill>
                  <a:srgbClr val="0D1B2A"/>
                </a:solidFill>
              </a:rPr>
              <a:t> de pesquisa extensiva do desenvolvimento educacional nos </a:t>
            </a:r>
            <a:r>
              <a:rPr lang="en-US" sz="1150" b="1" dirty="0">
                <a:solidFill>
                  <a:srgbClr val="0D1B2A"/>
                </a:solidFill>
              </a:rPr>
              <a:t>anos de 2022 a 2024</a:t>
            </a:r>
            <a:r>
              <a:rPr lang="en-US" sz="1150" dirty="0">
                <a:solidFill>
                  <a:srgbClr val="0D1B2A"/>
                </a:solidFill>
              </a:rPr>
              <a:t>, o objetivo é </a:t>
            </a:r>
            <a:r>
              <a:rPr lang="en-US" sz="1150" b="1" dirty="0">
                <a:solidFill>
                  <a:srgbClr val="0D1B2A"/>
                </a:solidFill>
              </a:rPr>
              <a:t>responder 09 perguntas de negócio </a:t>
            </a:r>
            <a:r>
              <a:rPr lang="en-US" sz="1150" dirty="0">
                <a:solidFill>
                  <a:srgbClr val="0D1B2A"/>
                </a:solidFill>
              </a:rPr>
              <a:t>e </a:t>
            </a:r>
            <a:r>
              <a:rPr lang="en-US" sz="1150" b="1" dirty="0">
                <a:solidFill>
                  <a:srgbClr val="0D1B2A"/>
                </a:solidFill>
              </a:rPr>
              <a:t>construir um modelo preditivo de risco </a:t>
            </a:r>
            <a:r>
              <a:rPr lang="en-US" sz="1150" dirty="0">
                <a:solidFill>
                  <a:srgbClr val="0D1B2A"/>
                </a:solidFill>
              </a:rPr>
              <a:t>de </a:t>
            </a:r>
            <a:r>
              <a:rPr lang="en-US" sz="1150" dirty="0" err="1">
                <a:solidFill>
                  <a:srgbClr val="0D1B2A"/>
                </a:solidFill>
              </a:rPr>
              <a:t>desempenho</a:t>
            </a:r>
            <a:r>
              <a:rPr lang="en-US" sz="1150" dirty="0">
                <a:solidFill>
                  <a:srgbClr val="0D1B2A"/>
                </a:solidFill>
              </a:rPr>
              <a:t> </a:t>
            </a:r>
            <a:r>
              <a:rPr lang="en-US" sz="1150" dirty="0" err="1">
                <a:solidFill>
                  <a:srgbClr val="0D1B2A"/>
                </a:solidFill>
              </a:rPr>
              <a:t>ou</a:t>
            </a:r>
            <a:r>
              <a:rPr lang="en-US" sz="1150" dirty="0">
                <a:solidFill>
                  <a:srgbClr val="0D1B2A"/>
                </a:solidFill>
              </a:rPr>
              <a:t> </a:t>
            </a:r>
            <a:r>
              <a:rPr lang="en-US" sz="1150" dirty="0" err="1">
                <a:solidFill>
                  <a:srgbClr val="0D1B2A"/>
                </a:solidFill>
              </a:rPr>
              <a:t>defasagem</a:t>
            </a:r>
            <a:r>
              <a:rPr lang="en-US" sz="1150" dirty="0">
                <a:solidFill>
                  <a:srgbClr val="0D1B2A"/>
                </a:solidFill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72200" y="960120"/>
            <a:ext cx="274320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960120"/>
            <a:ext cx="2743200" cy="109728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11556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7C00"/>
                </a:solidFill>
              </a:rPr>
              <a:t>A Entrega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600200"/>
            <a:ext cx="25603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D1B2A"/>
                </a:solidFill>
              </a:rPr>
              <a:t>Análise exploratória </a:t>
            </a:r>
            <a:r>
              <a:rPr lang="en-US" sz="1150" dirty="0">
                <a:solidFill>
                  <a:srgbClr val="0D1B2A"/>
                </a:solidFill>
              </a:rPr>
              <a:t>completa, </a:t>
            </a:r>
            <a:r>
              <a:rPr lang="en-US" sz="1150" b="1" dirty="0">
                <a:solidFill>
                  <a:srgbClr val="0D1B2A"/>
                </a:solidFill>
              </a:rPr>
              <a:t>respostas às perguntas analítica</a:t>
            </a:r>
            <a:r>
              <a:rPr lang="en-US" sz="1150" dirty="0">
                <a:solidFill>
                  <a:srgbClr val="0D1B2A"/>
                </a:solidFill>
              </a:rPr>
              <a:t>s, </a:t>
            </a:r>
            <a:r>
              <a:rPr lang="en-US" sz="1150" b="1" dirty="0">
                <a:solidFill>
                  <a:srgbClr val="0D1B2A"/>
                </a:solidFill>
              </a:rPr>
              <a:t>modelo preditivo </a:t>
            </a:r>
            <a:r>
              <a:rPr lang="en-US" sz="1150" dirty="0">
                <a:solidFill>
                  <a:srgbClr val="0D1B2A"/>
                </a:solidFill>
              </a:rPr>
              <a:t>com pipeline scikit-learn, aplicação Streamlit </a:t>
            </a:r>
            <a:r>
              <a:rPr lang="en-US" sz="1150" b="1" dirty="0" err="1">
                <a:solidFill>
                  <a:srgbClr val="0D1B2A"/>
                </a:solidFill>
              </a:rPr>
              <a:t>em</a:t>
            </a:r>
            <a:r>
              <a:rPr lang="en-US" sz="1150" b="1" dirty="0">
                <a:solidFill>
                  <a:srgbClr val="0D1B2A"/>
                </a:solidFill>
              </a:rPr>
              <a:t> </a:t>
            </a:r>
            <a:r>
              <a:rPr lang="en-US" sz="1150" b="1" dirty="0" err="1">
                <a:solidFill>
                  <a:srgbClr val="0D1B2A"/>
                </a:solidFill>
              </a:rPr>
              <a:t>produção</a:t>
            </a:r>
            <a:r>
              <a:rPr lang="en-US" sz="1150" b="1" dirty="0">
                <a:solidFill>
                  <a:srgbClr val="0D1B2A"/>
                </a:solidFill>
              </a:rPr>
              <a:t>.</a:t>
            </a:r>
            <a:endParaRPr lang="en-US" sz="1150" b="1" dirty="0"/>
          </a:p>
        </p:txBody>
      </p:sp>
      <p:sp>
        <p:nvSpPr>
          <p:cNvPr id="16" name="Shape 14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46360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107"/>
                </a:solidFill>
              </a:rPr>
              <a:t>~2.800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B2DFDB"/>
                </a:solidFill>
              </a:rPr>
              <a:t>alunos</a:t>
            </a:r>
            <a:r>
              <a:rPr lang="en-US" sz="950" dirty="0">
                <a:solidFill>
                  <a:srgbClr val="B2DFDB"/>
                </a:solidFill>
              </a:rPr>
              <a:t> </a:t>
            </a:r>
            <a:r>
              <a:rPr lang="en-US" sz="950" dirty="0" err="1">
                <a:solidFill>
                  <a:srgbClr val="B2DFDB"/>
                </a:solidFill>
              </a:rPr>
              <a:t>na</a:t>
            </a:r>
            <a:r>
              <a:rPr lang="en-US" sz="950" dirty="0">
                <a:solidFill>
                  <a:srgbClr val="B2DFDB"/>
                </a:solidFill>
              </a:rPr>
              <a:t> base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464515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107"/>
                </a:solidFill>
              </a:rPr>
              <a:t>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0332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</a:rPr>
              <a:t>anos analisados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623560" y="464574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C107"/>
                </a:solidFill>
              </a:rPr>
              <a:t>09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89788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</a:rPr>
              <a:t>perguntas respondidas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97024" y="4630109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C107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092440" y="4663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2DFDB"/>
                </a:solidFill>
              </a:rPr>
              <a:t>fases: Quartzo→Topázio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Pipeline de Tratamento de Dados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43200" cy="169164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51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069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897B"/>
                </a:solidFill>
              </a:rPr>
              <a:t>Leitura &amp; </a:t>
            </a:r>
            <a:r>
              <a:rPr lang="en-US" sz="1200" b="1" dirty="0" err="1">
                <a:solidFill>
                  <a:srgbClr val="00897B"/>
                </a:solidFill>
              </a:rPr>
              <a:t>Concatenação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149047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3 abas Excel (2022/23/24) lidas, colunas padronizadas via unicodedata + regex, unificadas em DataFrame longitudinal com coluna ano_coleta.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169164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5156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91840" y="1051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Feature Selection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49047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Removidas 28 colunas redundantes: históricos de INDE/Pedra anteriores, variáveis administrativas (avaliador, rec_av) e features com data leakage (atingiu_pv, indicado).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743200" cy="169164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051560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0515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0698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7C00"/>
                </a:solidFill>
              </a:rPr>
              <a:t>Normalização Morfológica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149047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Fases extraídas via regex (ex: 'ALFA' → 0). Inferência matemática de Fase Ideal = Fase - Defasagem quando valores ausentes.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" y="2880360"/>
            <a:ext cx="2743200" cy="169164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971800"/>
            <a:ext cx="438912" cy="43891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971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29900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0897B"/>
                </a:solidFill>
              </a:rPr>
              <a:t>Simplificação</a:t>
            </a:r>
            <a:r>
              <a:rPr lang="en-US" sz="1200" b="1" dirty="0">
                <a:solidFill>
                  <a:srgbClr val="00897B"/>
                </a:solidFill>
              </a:rPr>
              <a:t> de </a:t>
            </a:r>
            <a:r>
              <a:rPr lang="en-US" sz="1200" b="1" dirty="0" err="1">
                <a:solidFill>
                  <a:srgbClr val="00897B"/>
                </a:solidFill>
              </a:rPr>
              <a:t>variáveis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" y="34107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Vocabulário unificado: 'Menina'→'Feminino', 'Agata'→'Ágata'. Instituições agrupadas em 3 categorias: Pública, Privada e Outros.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880360"/>
            <a:ext cx="2743200" cy="169164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91840" y="2971800"/>
            <a:ext cx="438912" cy="438912"/>
          </a:xfrm>
          <a:prstGeom prst="ellipse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91840" y="2971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29900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Correção Numérica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291840" y="34107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Notas convertidas para float e clipadas entre 0–10. Zeros em 'ing' e 'ipp' tratados como NaN (ausência de prova ≠ nota zero).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72200" y="2880360"/>
            <a:ext cx="2743200" cy="169164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63640" y="2971800"/>
            <a:ext cx="438912" cy="438912"/>
          </a:xfrm>
          <a:prstGeom prst="ellipse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29718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66560" y="299008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F57C00"/>
                </a:solidFill>
              </a:rPr>
              <a:t>Inferência</a:t>
            </a:r>
            <a:r>
              <a:rPr lang="en-US" sz="1200" b="1" dirty="0">
                <a:solidFill>
                  <a:srgbClr val="F57C00"/>
                </a:solidFill>
              </a:rPr>
              <a:t> de </a:t>
            </a:r>
            <a:r>
              <a:rPr lang="en-US" sz="1200" b="1" dirty="0" err="1">
                <a:solidFill>
                  <a:srgbClr val="F57C00"/>
                </a:solidFill>
              </a:rPr>
              <a:t>Idade</a:t>
            </a:r>
            <a:r>
              <a:rPr lang="en-US" sz="1200" b="1" dirty="0">
                <a:solidFill>
                  <a:srgbClr val="F57C00"/>
                </a:solidFill>
              </a:rPr>
              <a:t> &amp; </a:t>
            </a:r>
            <a:r>
              <a:rPr lang="en-US" sz="1200" b="1" dirty="0" err="1">
                <a:solidFill>
                  <a:srgbClr val="F57C00"/>
                </a:solidFill>
              </a:rPr>
              <a:t>Remoção</a:t>
            </a:r>
            <a:r>
              <a:rPr lang="en-US" sz="1200" b="1" dirty="0">
                <a:solidFill>
                  <a:srgbClr val="F57C00"/>
                </a:solidFill>
              </a:rPr>
              <a:t> de </a:t>
            </a:r>
            <a:r>
              <a:rPr lang="en-US" sz="1200" b="1" dirty="0" err="1">
                <a:solidFill>
                  <a:srgbClr val="F57C00"/>
                </a:solidFill>
              </a:rPr>
              <a:t>nulos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410712"/>
            <a:ext cx="2606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Idades</a:t>
            </a:r>
            <a:r>
              <a:rPr lang="en-US" sz="950" dirty="0">
                <a:solidFill>
                  <a:srgbClr val="0D1B2A"/>
                </a:solidFill>
              </a:rPr>
              <a:t> </a:t>
            </a:r>
            <a:r>
              <a:rPr lang="en-US" sz="950" dirty="0" err="1">
                <a:solidFill>
                  <a:srgbClr val="0D1B2A"/>
                </a:solidFill>
              </a:rPr>
              <a:t>corrigidas</a:t>
            </a:r>
            <a:r>
              <a:rPr lang="en-US" sz="950" dirty="0">
                <a:solidFill>
                  <a:srgbClr val="0D1B2A"/>
                </a:solidFill>
              </a:rPr>
              <a:t>: bug do Excel </a:t>
            </a:r>
            <a:r>
              <a:rPr lang="en-US" sz="950" dirty="0" err="1">
                <a:solidFill>
                  <a:srgbClr val="0D1B2A"/>
                </a:solidFill>
              </a:rPr>
              <a:t>converte</a:t>
            </a:r>
            <a:r>
              <a:rPr lang="en-US" sz="950" dirty="0">
                <a:solidFill>
                  <a:srgbClr val="0D1B2A"/>
                </a:solidFill>
              </a:rPr>
              <a:t> </a:t>
            </a:r>
            <a:r>
              <a:rPr lang="en-US" sz="950" dirty="0" err="1">
                <a:solidFill>
                  <a:srgbClr val="0D1B2A"/>
                </a:solidFill>
              </a:rPr>
              <a:t>idades</a:t>
            </a:r>
            <a:r>
              <a:rPr lang="en-US" sz="950" dirty="0">
                <a:solidFill>
                  <a:srgbClr val="0D1B2A"/>
                </a:solidFill>
              </a:rPr>
              <a:t> </a:t>
            </a:r>
            <a:r>
              <a:rPr lang="en-US" sz="950" dirty="0" err="1">
                <a:solidFill>
                  <a:srgbClr val="0D1B2A"/>
                </a:solidFill>
              </a:rPr>
              <a:t>pequenas</a:t>
            </a:r>
            <a:r>
              <a:rPr lang="en-US" sz="950" dirty="0">
                <a:solidFill>
                  <a:srgbClr val="0D1B2A"/>
                </a:solidFill>
              </a:rPr>
              <a:t> para </a:t>
            </a:r>
            <a:r>
              <a:rPr lang="en-US" sz="950" dirty="0" err="1">
                <a:solidFill>
                  <a:srgbClr val="0D1B2A"/>
                </a:solidFill>
              </a:rPr>
              <a:t>datas</a:t>
            </a:r>
            <a:r>
              <a:rPr lang="en-US" sz="950" dirty="0">
                <a:solidFill>
                  <a:srgbClr val="0D1B2A"/>
                </a:solidFill>
              </a:rPr>
              <a:t> de 1900. 185 registros removidos (inde nulo / &gt;40% missing / sem notas). 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Q1 — IAN: Perfil de Defasagem dos Alunos</a:t>
            </a:r>
            <a:endParaRPr lang="en-US" sz="2400" dirty="0"/>
          </a:p>
        </p:txBody>
      </p:sp>
      <p:sp>
        <p:nvSpPr>
          <p:cNvPr id="22" name="Text 19"/>
          <p:cNvSpPr/>
          <p:nvPr/>
        </p:nvSpPr>
        <p:spPr>
          <a:xfrm>
            <a:off x="890101" y="4270461"/>
            <a:ext cx="3004092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 err="1"/>
              <a:t>Maioria</a:t>
            </a:r>
            <a:r>
              <a:rPr lang="en-US" sz="1050" dirty="0"/>
              <a:t> dos </a:t>
            </a:r>
            <a:r>
              <a:rPr lang="en-US" sz="1050" dirty="0" err="1"/>
              <a:t>alunos</a:t>
            </a:r>
            <a:r>
              <a:rPr lang="en-US" sz="1050" dirty="0"/>
              <a:t> </a:t>
            </a:r>
            <a:r>
              <a:rPr lang="en-US" sz="1050" dirty="0" err="1"/>
              <a:t>está</a:t>
            </a:r>
            <a:r>
              <a:rPr lang="en-US" sz="1050" dirty="0"/>
              <a:t> </a:t>
            </a:r>
            <a:r>
              <a:rPr lang="en-US" sz="1050" b="1" dirty="0" err="1"/>
              <a:t>próxima</a:t>
            </a:r>
            <a:r>
              <a:rPr lang="en-US" sz="1050" b="1" dirty="0"/>
              <a:t> do </a:t>
            </a:r>
            <a:r>
              <a:rPr lang="en-US" sz="1050" b="1" dirty="0" err="1"/>
              <a:t>nível</a:t>
            </a:r>
            <a:r>
              <a:rPr lang="en-US" sz="1050" b="1" dirty="0"/>
              <a:t> ideal</a:t>
            </a:r>
            <a:endParaRPr lang="en-US" sz="105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0F063AFE-DCE7-079C-5325-7D4E29261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12" y="859536"/>
            <a:ext cx="7850307" cy="3235198"/>
          </a:xfrm>
          <a:prstGeom prst="rect">
            <a:avLst/>
          </a:prstGeom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7E4CD5E3-4EE0-632E-0F62-1C777DBA8A5D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5" name="Text 19">
            <a:extLst>
              <a:ext uri="{FF2B5EF4-FFF2-40B4-BE49-F238E27FC236}">
                <a16:creationId xmlns:a16="http://schemas.microsoft.com/office/drawing/2014/main" id="{B9629A85-30A1-2751-80B8-3BA502143969}"/>
              </a:ext>
            </a:extLst>
          </p:cNvPr>
          <p:cNvSpPr/>
          <p:nvPr/>
        </p:nvSpPr>
        <p:spPr>
          <a:xfrm>
            <a:off x="4853354" y="4264067"/>
            <a:ext cx="3921050" cy="4728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Constância do </a:t>
            </a:r>
            <a:r>
              <a:rPr lang="en-US" sz="1050" b="1" dirty="0"/>
              <a:t>IAN entre 2022–2024</a:t>
            </a:r>
            <a:r>
              <a:rPr lang="pt-BR" sz="1050" b="1" dirty="0"/>
              <a:t> </a:t>
            </a:r>
            <a:r>
              <a:rPr lang="pt-BR" sz="1050" dirty="0"/>
              <a:t>(possível indício que as estratégias pedagógicas conseguem nivelar novos alunos sem perder a qualidade daqueles que já estavam estabilizados.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928164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Q2 — IDA: Desempenho Acadêmico por Fase e Ano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238064A9-C021-0899-8125-DDF8132A0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26" y="1117738"/>
            <a:ext cx="5273446" cy="3415896"/>
          </a:xfrm>
          <a:prstGeom prst="rect">
            <a:avLst/>
          </a:prstGeom>
        </p:spPr>
      </p:pic>
      <p:sp>
        <p:nvSpPr>
          <p:cNvPr id="4" name="Text 15">
            <a:extLst>
              <a:ext uri="{FF2B5EF4-FFF2-40B4-BE49-F238E27FC236}">
                <a16:creationId xmlns:a16="http://schemas.microsoft.com/office/drawing/2014/main" id="{FFCA776A-58CB-8C6B-3F02-F766B1429550}"/>
              </a:ext>
            </a:extLst>
          </p:cNvPr>
          <p:cNvSpPr/>
          <p:nvPr/>
        </p:nvSpPr>
        <p:spPr>
          <a:xfrm>
            <a:off x="5837387" y="1456707"/>
            <a:ext cx="2654383" cy="26237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IDA com leve tendência de queda à medida que o aluno avança para fases mais altas </a:t>
            </a:r>
            <a:r>
              <a:rPr lang="pt-BR" sz="1050" dirty="0"/>
              <a:t>(possivelmente devido ao aumento da complexidade do conteúdo).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sz="1050" dirty="0"/>
          </a:p>
          <a:p>
            <a:endParaRPr lang="pt-BR" sz="105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Evolução da média geral ano a ano tem se mantido estável e consistente </a:t>
            </a:r>
            <a:r>
              <a:rPr lang="pt-BR" sz="1050" dirty="0"/>
              <a:t>(possível evidencia que o programa consegue sustentar a performance dos alunos mesmo em níveis mais avançados).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Q3 — </a:t>
            </a:r>
            <a:r>
              <a:rPr lang="en-US" sz="2200" b="1" dirty="0" err="1">
                <a:solidFill>
                  <a:srgbClr val="FFFFFF"/>
                </a:solidFill>
              </a:rPr>
              <a:t>Engajamento</a:t>
            </a:r>
            <a:r>
              <a:rPr lang="en-US" sz="2200" b="1" dirty="0">
                <a:solidFill>
                  <a:srgbClr val="FFFFFF"/>
                </a:solidFill>
              </a:rPr>
              <a:t> vs </a:t>
            </a:r>
            <a:r>
              <a:rPr lang="en-US" sz="2200" b="1" dirty="0" err="1">
                <a:solidFill>
                  <a:srgbClr val="FFFFFF"/>
                </a:solidFill>
              </a:rPr>
              <a:t>Desempenho</a:t>
            </a:r>
            <a:r>
              <a:rPr lang="en-US" sz="2200" b="1" dirty="0">
                <a:solidFill>
                  <a:srgbClr val="FFFFFF"/>
                </a:solidFill>
              </a:rPr>
              <a:t> e Ponto de </a:t>
            </a:r>
            <a:r>
              <a:rPr lang="en-US" sz="2200" b="1" dirty="0" err="1">
                <a:solidFill>
                  <a:srgbClr val="FFFFFF"/>
                </a:solidFill>
              </a:rPr>
              <a:t>Virada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457200" y="425446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Existe uma correlação positiva e direta entre o engajamento e desempenho e também entre engajamento e ponto de virada</a:t>
            </a:r>
            <a:r>
              <a:rPr lang="pt-BR" sz="1050" dirty="0"/>
              <a:t> (indício que alunos mais participativos e presentes nas atividades tendem a ter melhores notas nas matérias e também demonstram um desenvolvimento pessoal e de maturidade mais acentuado)</a:t>
            </a:r>
            <a:endParaRPr lang="en-US" sz="105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B203D6CD-01E2-C2A5-C318-B4DF540073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304" y="949940"/>
            <a:ext cx="7574772" cy="3121647"/>
          </a:xfrm>
          <a:prstGeom prst="rect">
            <a:avLst/>
          </a:prstGeom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E3BF5580-DF96-B0F2-CB52-AF4FF2DDE081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Q4 — </a:t>
            </a:r>
            <a:r>
              <a:rPr lang="en-US" sz="2200" b="1" dirty="0" err="1">
                <a:solidFill>
                  <a:srgbClr val="FFFFFF"/>
                </a:solidFill>
              </a:rPr>
              <a:t>Autoavaliação</a:t>
            </a:r>
            <a:r>
              <a:rPr lang="en-US" sz="2200" b="1" dirty="0">
                <a:solidFill>
                  <a:srgbClr val="FFFFFF"/>
                </a:solidFill>
              </a:rPr>
              <a:t> vs </a:t>
            </a:r>
            <a:r>
              <a:rPr lang="en-US" sz="2200" b="1" dirty="0" err="1">
                <a:solidFill>
                  <a:srgbClr val="FFFFFF"/>
                </a:solidFill>
              </a:rPr>
              <a:t>Desempenho</a:t>
            </a:r>
            <a:r>
              <a:rPr lang="en-US" sz="2200" b="1" dirty="0">
                <a:solidFill>
                  <a:srgbClr val="FFFFFF"/>
                </a:solidFill>
              </a:rPr>
              <a:t> Real e </a:t>
            </a:r>
            <a:r>
              <a:rPr lang="en-US" sz="2200" b="1" dirty="0" err="1">
                <a:solidFill>
                  <a:srgbClr val="FFFFFF"/>
                </a:solidFill>
              </a:rPr>
              <a:t>Engajamento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393256" y="4194730"/>
            <a:ext cx="8229600" cy="5666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Há uma correlação positiva baixa entre autoavaliação e desempenho real e também entre autoavaliação e engajamento, </a:t>
            </a:r>
            <a:r>
              <a:rPr lang="pt-BR" sz="1050" dirty="0"/>
              <a:t>variando de r ≈ 0.10 a 0.22 para IDA, e r ≈ 0.17 a 0.32 para IEG (indicando que possivelmente alunos com boas notas e boa presença tendem a se autoavaliar de forma mais positiva. Contudo, a correlação não é perfeita, indicando que uma parcela de alunos pode se subestimar ou superestimar, o que representa uma oportunidade de atuação direcionada dos educadores).</a:t>
            </a:r>
            <a:endParaRPr lang="en-US" sz="10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EABA89F-92CB-BDB8-5ED6-6D6FBDED3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476" y="986055"/>
            <a:ext cx="7376548" cy="3039956"/>
          </a:xfrm>
          <a:prstGeom prst="rect">
            <a:avLst/>
          </a:prstGeom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4AFA4ABD-33FD-BF6F-2851-56B42A200520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388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Q5 — </a:t>
            </a:r>
            <a:r>
              <a:rPr lang="en-US" sz="2200" b="1" dirty="0" err="1">
                <a:solidFill>
                  <a:srgbClr val="FFFFFF"/>
                </a:solidFill>
              </a:rPr>
              <a:t>Psicossocial</a:t>
            </a:r>
            <a:r>
              <a:rPr lang="en-US" sz="2200" b="1" dirty="0">
                <a:solidFill>
                  <a:srgbClr val="FFFFFF"/>
                </a:solidFill>
              </a:rPr>
              <a:t> vs </a:t>
            </a:r>
            <a:r>
              <a:rPr lang="en-US" sz="2200" b="1" dirty="0" err="1">
                <a:solidFill>
                  <a:srgbClr val="FFFFFF"/>
                </a:solidFill>
              </a:rPr>
              <a:t>Desempenho</a:t>
            </a:r>
            <a:r>
              <a:rPr lang="en-US" sz="2200" b="1" dirty="0">
                <a:solidFill>
                  <a:srgbClr val="FFFFFF"/>
                </a:solidFill>
              </a:rPr>
              <a:t> e </a:t>
            </a:r>
            <a:r>
              <a:rPr lang="en-US" sz="2200" b="1" dirty="0" err="1">
                <a:solidFill>
                  <a:srgbClr val="FFFFFF"/>
                </a:solidFill>
              </a:rPr>
              <a:t>Engajamento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5009695" y="4071394"/>
            <a:ext cx="35552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tem pouca relação com quedas de engajamento futuro </a:t>
            </a:r>
            <a:r>
              <a:rPr lang="pt-BR" sz="1050" dirty="0"/>
              <a:t>(a diferença entre os grupos é pequena e os dados muito dispersos )</a:t>
            </a:r>
            <a:endParaRPr lang="en-US" sz="10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DFD9C6A-F536-DB9E-A806-A531A28456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993255"/>
            <a:ext cx="4062812" cy="2816404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38141F3-CD7F-54E3-2327-EEB614AE8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005240"/>
            <a:ext cx="4062812" cy="2804419"/>
          </a:xfrm>
          <a:prstGeom prst="rect">
            <a:avLst/>
          </a:prstGeom>
        </p:spPr>
      </p:pic>
      <p:sp>
        <p:nvSpPr>
          <p:cNvPr id="8" name="Shape 14">
            <a:extLst>
              <a:ext uri="{FF2B5EF4-FFF2-40B4-BE49-F238E27FC236}">
                <a16:creationId xmlns:a16="http://schemas.microsoft.com/office/drawing/2014/main" id="{0206BE5A-0312-804E-1B38-0307A8D13DD0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9" name="Text 8">
            <a:extLst>
              <a:ext uri="{FF2B5EF4-FFF2-40B4-BE49-F238E27FC236}">
                <a16:creationId xmlns:a16="http://schemas.microsoft.com/office/drawing/2014/main" id="{E7BEF827-D757-891E-3F40-8E31A40C8FAD}"/>
              </a:ext>
            </a:extLst>
          </p:cNvPr>
          <p:cNvSpPr/>
          <p:nvPr/>
        </p:nvSpPr>
        <p:spPr>
          <a:xfrm>
            <a:off x="579017" y="4071394"/>
            <a:ext cx="383622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O IPS é um bom indicador antecedente de risco acadêmico </a:t>
            </a:r>
            <a:r>
              <a:rPr lang="pt-BR" sz="1050" dirty="0"/>
              <a:t>(alunos com queda futura já apresentam IPS mais baixo no ano anterior)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3972407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Q6 – </a:t>
            </a:r>
            <a:r>
              <a:rPr lang="en-US" sz="2200" b="1" dirty="0" err="1">
                <a:solidFill>
                  <a:srgbClr val="FFFFFF"/>
                </a:solidFill>
              </a:rPr>
              <a:t>Psicopedagógicos</a:t>
            </a:r>
            <a:r>
              <a:rPr lang="en-US" sz="2200" b="1" dirty="0">
                <a:solidFill>
                  <a:srgbClr val="FFFFFF"/>
                </a:solidFill>
              </a:rPr>
              <a:t> vs </a:t>
            </a:r>
            <a:r>
              <a:rPr lang="en-US" sz="2200" b="1" dirty="0" err="1">
                <a:solidFill>
                  <a:srgbClr val="FFFFFF"/>
                </a:solidFill>
              </a:rPr>
              <a:t>Defasagem</a:t>
            </a:r>
            <a:endParaRPr lang="en-US" sz="2200" dirty="0"/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42D0AA92-E9BF-9F08-67E5-0608DD6DD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20" y="850537"/>
            <a:ext cx="4684663" cy="3988109"/>
          </a:xfrm>
          <a:prstGeom prst="rect">
            <a:avLst/>
          </a:prstGeom>
        </p:spPr>
      </p:pic>
      <p:sp>
        <p:nvSpPr>
          <p:cNvPr id="16" name="Text 8">
            <a:extLst>
              <a:ext uri="{FF2B5EF4-FFF2-40B4-BE49-F238E27FC236}">
                <a16:creationId xmlns:a16="http://schemas.microsoft.com/office/drawing/2014/main" id="{56AAF8D0-A52B-208D-3197-8653E89B0269}"/>
              </a:ext>
            </a:extLst>
          </p:cNvPr>
          <p:cNvSpPr/>
          <p:nvPr/>
        </p:nvSpPr>
        <p:spPr>
          <a:xfrm>
            <a:off x="4917298" y="1289521"/>
            <a:ext cx="3860530" cy="27599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Diagnóstico quantitativo (IAN) e a avaliação humana (IPP) caminham na mesma direção, as duas métricas são consistentes entre si.</a:t>
            </a:r>
            <a:r>
              <a:rPr lang="pt-BR" sz="1050" dirty="0"/>
              <a:t> Alunos adiantados (+1, +2) têm IPP mais alto (~8), confirmando melhor avaliação psicopedagógica Alunos atrasados ou no nível ideal têm IPP mais baixo e muito mais disperso — indicando maior variabilidade individual O IPP confirma o que o IAN aponta: quanto mais adiantado o aluno, melhor a avaliação psicopedagógica.</a:t>
            </a:r>
            <a:endParaRPr lang="en-US" sz="1050" dirty="0"/>
          </a:p>
        </p:txBody>
      </p:sp>
      <p:sp>
        <p:nvSpPr>
          <p:cNvPr id="4" name="Shape 14">
            <a:extLst>
              <a:ext uri="{FF2B5EF4-FFF2-40B4-BE49-F238E27FC236}">
                <a16:creationId xmlns:a16="http://schemas.microsoft.com/office/drawing/2014/main" id="{3DE6E7F3-9327-BB13-8684-F02337921A05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296850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Q7 – Ponto de </a:t>
            </a:r>
            <a:r>
              <a:rPr lang="en-US" sz="2200" b="1" dirty="0" err="1">
                <a:solidFill>
                  <a:srgbClr val="FFFFFF"/>
                </a:solidFill>
              </a:rPr>
              <a:t>virada</a:t>
            </a:r>
            <a:r>
              <a:rPr lang="en-US" sz="2200" b="1" dirty="0">
                <a:solidFill>
                  <a:srgbClr val="FFFFFF"/>
                </a:solidFill>
              </a:rPr>
              <a:t> vs </a:t>
            </a:r>
            <a:r>
              <a:rPr lang="en-US" sz="2200" b="1" dirty="0" err="1">
                <a:solidFill>
                  <a:srgbClr val="FFFFFF"/>
                </a:solidFill>
              </a:rPr>
              <a:t>indicadores</a:t>
            </a:r>
            <a:endParaRPr lang="en-US" sz="22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56AAF8D0-A52B-208D-3197-8653E89B0269}"/>
              </a:ext>
            </a:extLst>
          </p:cNvPr>
          <p:cNvSpPr/>
          <p:nvPr/>
        </p:nvSpPr>
        <p:spPr>
          <a:xfrm>
            <a:off x="5908431" y="1387167"/>
            <a:ext cx="2887074" cy="2881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Avaliações psicopedagógicas e engajamento são os maiores impulsionadores do ponto de virada. </a:t>
            </a:r>
            <a:r>
              <a:rPr lang="pt-BR" sz="1050" dirty="0"/>
              <a:t>Fatores emocionais ou </a:t>
            </a:r>
            <a:r>
              <a:rPr lang="pt-BR" sz="1050" dirty="0" err="1"/>
              <a:t>auto-percepção</a:t>
            </a:r>
            <a:r>
              <a:rPr lang="pt-BR" sz="1050" dirty="0"/>
              <a:t> (IDA, IPS e IAA) oferecem base sustentadora essencial, mas o acompanhamento psicopedagógico e a resiliência acadêmica são os motores primários que culminam no tão desejado 'Ponto de Virada' dos jovens.</a:t>
            </a:r>
            <a:endParaRPr lang="en-US" sz="10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AF381A2-BAC2-7016-EFB4-B796F50477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50"/>
          <a:stretch/>
        </p:blipFill>
        <p:spPr>
          <a:xfrm>
            <a:off x="274320" y="1232960"/>
            <a:ext cx="5291813" cy="3132919"/>
          </a:xfrm>
          <a:prstGeom prst="rect">
            <a:avLst/>
          </a:prstGeom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3DE58151-F4B4-8056-D88A-F904E9FA57F3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806252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Q8 – Nota global vs </a:t>
            </a:r>
            <a:r>
              <a:rPr lang="en-US" sz="2200" b="1" dirty="0" err="1">
                <a:solidFill>
                  <a:srgbClr val="FFFFFF"/>
                </a:solidFill>
              </a:rPr>
              <a:t>combinação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indicadores</a:t>
            </a:r>
            <a:endParaRPr lang="en-US" sz="22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56AAF8D0-A52B-208D-3197-8653E89B0269}"/>
              </a:ext>
            </a:extLst>
          </p:cNvPr>
          <p:cNvSpPr/>
          <p:nvPr/>
        </p:nvSpPr>
        <p:spPr>
          <a:xfrm>
            <a:off x="5677596" y="1672839"/>
            <a:ext cx="3130698" cy="19511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Identificamos que a nota global é dominada pelo desempenho Acadêmico, seguido pelo engajamento</a:t>
            </a:r>
            <a:r>
              <a:rPr lang="pt-BR" sz="1050" dirty="0"/>
              <a:t>. O modelo revela que a combinação destas duas métricas responde por mais de 70% do peso prático do cálculo do INDE, provando que excelência acadêmica somada à participação incansável é a combinação que mais eleva os indicadores vitais na Passos Mágicos.</a:t>
            </a:r>
            <a:endParaRPr lang="en-US" sz="105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0933B7BE-0C68-3715-5A4F-C828FBAF50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96"/>
          <a:stretch/>
        </p:blipFill>
        <p:spPr>
          <a:xfrm>
            <a:off x="274320" y="1199224"/>
            <a:ext cx="5172230" cy="3069938"/>
          </a:xfrm>
          <a:prstGeom prst="rect">
            <a:avLst/>
          </a:prstGeom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C0706AC4-3332-864E-22A6-1330DF676B8A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251352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Q10 – Nota global vs </a:t>
            </a:r>
            <a:r>
              <a:rPr lang="en-US" sz="2200" b="1" dirty="0" err="1">
                <a:solidFill>
                  <a:srgbClr val="FFFFFF"/>
                </a:solidFill>
              </a:rPr>
              <a:t>combinação</a:t>
            </a:r>
            <a:r>
              <a:rPr lang="en-US" sz="2200" b="1" dirty="0">
                <a:solidFill>
                  <a:srgbClr val="FFFFFF"/>
                </a:solidFill>
              </a:rPr>
              <a:t> de </a:t>
            </a:r>
            <a:r>
              <a:rPr lang="en-US" sz="2200" b="1" dirty="0" err="1">
                <a:solidFill>
                  <a:srgbClr val="FFFFFF"/>
                </a:solidFill>
              </a:rPr>
              <a:t>indicadores</a:t>
            </a:r>
            <a:endParaRPr lang="en-US" sz="2200" dirty="0"/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56AAF8D0-A52B-208D-3197-8653E89B0269}"/>
              </a:ext>
            </a:extLst>
          </p:cNvPr>
          <p:cNvSpPr/>
          <p:nvPr/>
        </p:nvSpPr>
        <p:spPr>
          <a:xfrm>
            <a:off x="274320" y="4242817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050" b="1" dirty="0"/>
              <a:t>Os dados confirmam o impacto real do programa: quanto mais tempo o aluno permanece, maior e mais consistente é sua evolução</a:t>
            </a:r>
            <a:r>
              <a:rPr lang="pt-BR" sz="1050" dirty="0"/>
              <a:t>. O INDE cresce de forma clara e consistente a cada estágio. A dispersão diminui nas fases mais avançadas — alunos em Topázio são mais homogêneos e estáveis.</a:t>
            </a:r>
            <a:endParaRPr lang="en-US" sz="105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CCB6F7E-8F1D-5409-7469-DE9AC3127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9369" y="881330"/>
            <a:ext cx="5817117" cy="3303117"/>
          </a:xfrm>
          <a:prstGeom prst="rect">
            <a:avLst/>
          </a:prstGeom>
        </p:spPr>
      </p:pic>
      <p:sp>
        <p:nvSpPr>
          <p:cNvPr id="4" name="Shape 14">
            <a:extLst>
              <a:ext uri="{FF2B5EF4-FFF2-40B4-BE49-F238E27FC236}">
                <a16:creationId xmlns:a16="http://schemas.microsoft.com/office/drawing/2014/main" id="{108C1F66-9538-431E-5C5B-1F9064E3F2CF}"/>
              </a:ext>
            </a:extLst>
          </p:cNvPr>
          <p:cNvSpPr/>
          <p:nvPr/>
        </p:nvSpPr>
        <p:spPr>
          <a:xfrm>
            <a:off x="0" y="4930086"/>
            <a:ext cx="9144000" cy="213413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0830804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Modelo</a:t>
            </a:r>
            <a:r>
              <a:rPr lang="en-US" sz="2400" b="1" dirty="0">
                <a:solidFill>
                  <a:srgbClr val="FFFFFF"/>
                </a:solidFill>
              </a:rPr>
              <a:t> Preditivo: Feature Engineering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129284"/>
            <a:ext cx="8595360" cy="434340"/>
          </a:xfrm>
          <a:prstGeom prst="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750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🎯  Target: </a:t>
            </a:r>
            <a:r>
              <a:rPr lang="en-US" sz="1300" b="1" dirty="0" err="1">
                <a:solidFill>
                  <a:srgbClr val="1565C0"/>
                </a:solidFill>
              </a:rPr>
              <a:t>aumento</a:t>
            </a:r>
            <a:r>
              <a:rPr lang="en-US" sz="1300" b="1" dirty="0">
                <a:solidFill>
                  <a:srgbClr val="1565C0"/>
                </a:solidFill>
              </a:rPr>
              <a:t> de </a:t>
            </a:r>
            <a:r>
              <a:rPr lang="en-US" sz="1300" b="1" dirty="0" err="1">
                <a:solidFill>
                  <a:srgbClr val="1565C0"/>
                </a:solidFill>
              </a:rPr>
              <a:t>defasagem</a:t>
            </a:r>
            <a:r>
              <a:rPr lang="en-US" sz="1300" b="1" dirty="0">
                <a:solidFill>
                  <a:srgbClr val="1565C0"/>
                </a:solidFill>
              </a:rPr>
              <a:t> </a:t>
            </a:r>
            <a:r>
              <a:rPr lang="en-US" sz="1300" b="1" dirty="0" err="1">
                <a:solidFill>
                  <a:srgbClr val="1565C0"/>
                </a:solidFill>
              </a:rPr>
              <a:t>ou</a:t>
            </a:r>
            <a:r>
              <a:rPr lang="en-US" sz="1300" b="1" dirty="0">
                <a:solidFill>
                  <a:srgbClr val="1565C0"/>
                </a:solidFill>
              </a:rPr>
              <a:t> </a:t>
            </a:r>
            <a:r>
              <a:rPr lang="en-US" sz="1300" b="1" dirty="0" err="1">
                <a:solidFill>
                  <a:srgbClr val="1565C0"/>
                </a:solidFill>
              </a:rPr>
              <a:t>queda</a:t>
            </a:r>
            <a:r>
              <a:rPr lang="en-US" sz="1300" b="1" dirty="0">
                <a:solidFill>
                  <a:srgbClr val="1565C0"/>
                </a:solidFill>
              </a:rPr>
              <a:t> no INDE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965960"/>
            <a:ext cx="2011680" cy="274320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965960"/>
            <a:ext cx="2011680" cy="914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208483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📌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7472" y="24505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897B"/>
                </a:solidFill>
              </a:rPr>
              <a:t>Features Base (8)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329371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iaa,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ieg</a:t>
            </a:r>
            <a:r>
              <a:rPr lang="en-US" sz="950" dirty="0">
                <a:solidFill>
                  <a:srgbClr val="0D1B2A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ips</a:t>
            </a:r>
            <a:r>
              <a:rPr lang="en-US" sz="950" dirty="0">
                <a:solidFill>
                  <a:srgbClr val="0D1B2A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ida</a:t>
            </a:r>
            <a:r>
              <a:rPr lang="en-US" sz="950" dirty="0">
                <a:solidFill>
                  <a:srgbClr val="0D1B2A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ipp</a:t>
            </a:r>
            <a:r>
              <a:rPr lang="en-US" sz="950" dirty="0">
                <a:solidFill>
                  <a:srgbClr val="0D1B2A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ipv</a:t>
            </a:r>
            <a:r>
              <a:rPr lang="en-US" sz="950" dirty="0">
                <a:solidFill>
                  <a:srgbClr val="0D1B2A"/>
                </a:solidFill>
              </a:rPr>
              <a:t>, 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ian</a:t>
            </a:r>
            <a:r>
              <a:rPr lang="en-US" sz="950" dirty="0">
                <a:solidFill>
                  <a:srgbClr val="0D1B2A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idade</a:t>
            </a:r>
            <a:r>
              <a:rPr lang="en-US" sz="950" dirty="0">
                <a:solidFill>
                  <a:srgbClr val="0D1B2A"/>
                </a:solidFill>
              </a:rPr>
              <a:t>,</a:t>
            </a:r>
          </a:p>
          <a:p>
            <a:pPr marL="0" indent="0">
              <a:buNone/>
            </a:pPr>
            <a:r>
              <a:rPr lang="en-US" sz="950" dirty="0" err="1">
                <a:solidFill>
                  <a:srgbClr val="0D1B2A"/>
                </a:solidFill>
              </a:rPr>
              <a:t>fase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50592" y="1965960"/>
            <a:ext cx="2011680" cy="274320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50592" y="1965960"/>
            <a:ext cx="2011680" cy="914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23744" y="208483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523744" y="24505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</a:rPr>
              <a:t>Features Delta (8)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Δiaa, Δieg, Δips, Δida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560320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Δipp, Δipv, Δinde, Δian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560320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Variação ano-a-ano de cada indicador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26864" y="1965960"/>
            <a:ext cx="2011680" cy="274320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965960"/>
            <a:ext cx="2011680" cy="9144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208483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🏷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700016" y="24505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7C00"/>
                </a:solidFill>
              </a:rPr>
              <a:t>Features Categóricas (2)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36592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instituicao_de_ensino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736592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genero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36592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OneHot encoding via Pipeline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03136" y="1965960"/>
            <a:ext cx="2011680" cy="2743200"/>
          </a:xfrm>
          <a:prstGeom prst="rect">
            <a:avLst/>
          </a:prstGeom>
          <a:solidFill>
            <a:srgbClr val="F4F9F8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03136" y="1965960"/>
            <a:ext cx="2011680" cy="91440"/>
          </a:xfrm>
          <a:prstGeom prst="rect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208483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</a:rPr>
              <a:t>🎯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876288" y="2450592"/>
            <a:ext cx="1874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53935"/>
                </a:solidFill>
              </a:rPr>
              <a:t>Target: risco_futuro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912864" y="29718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1 = INDE caiu OU defasagem piorou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912864" y="3383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0 = sem piora em T+1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912864" y="37947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Apenas anos consecutivos válidos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474573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Treino: 873 instâncias (70%)  |  Teste: 375 instâncias (30%)  |  Estratificação por target  |  Apenas dados de 2023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9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Resultados</a:t>
            </a:r>
            <a:r>
              <a:rPr lang="en-US" sz="2400" b="1" dirty="0">
                <a:solidFill>
                  <a:srgbClr val="FFFFFF"/>
                </a:solidFill>
              </a:rPr>
              <a:t> do Modelo Preditivo</a:t>
            </a:r>
            <a:endParaRPr lang="en-US" sz="24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304000032"/>
              </p:ext>
            </p:extLst>
          </p:nvPr>
        </p:nvGraphicFramePr>
        <p:xfrm>
          <a:off x="274320" y="914400"/>
          <a:ext cx="502920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990046"/>
            <a:ext cx="3337560" cy="14630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715000" y="1035766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C107"/>
                </a:solidFill>
              </a:rPr>
              <a:t>🏆  Modelo Vencedor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715000" y="1447246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Random Forest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715000" y="185872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2DFDB"/>
                </a:solidFill>
              </a:rPr>
              <a:t>ROC-AUC: 0,689  |  F1: 0,761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577840" y="2590246"/>
            <a:ext cx="3337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577840" y="2590246"/>
            <a:ext cx="73152" cy="6858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15000" y="264511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897B"/>
                </a:solidFill>
              </a:rPr>
              <a:t>ROC-AUC: 0,689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293771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Capacidade de distinguir risco vs não-risco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577840" y="3413206"/>
            <a:ext cx="33375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77840" y="3413206"/>
            <a:ext cx="73152" cy="6858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346807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F1-Score: 0,761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5715000" y="376067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Equilíbrio precision/recall para classe de risco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715000" y="428853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</a:rPr>
              <a:t>Ajustado para reduzir falsos negativos críticos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4315968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" y="43616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Pipeline completo exportado com: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ColumnTransformer (imputer + scaler + onehot)  →  Gradient Boosting Classifier  →  deploy/model_artifacts/pipeline.joblib + features_metadata.json  →  Streamlit Community Cloud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FFFFFF"/>
                </a:solidFill>
              </a:rPr>
              <a:t>Aplicação</a:t>
            </a:r>
            <a:r>
              <a:rPr lang="en-US" sz="2400" b="1" dirty="0">
                <a:solidFill>
                  <a:srgbClr val="FFFFFF"/>
                </a:solidFill>
              </a:rPr>
              <a:t> Deploy </a:t>
            </a:r>
            <a:r>
              <a:rPr lang="en-US" sz="2400" b="1" dirty="0" err="1">
                <a:solidFill>
                  <a:srgbClr val="FFFFFF"/>
                </a:solidFill>
              </a:rPr>
              <a:t>Streamlit</a:t>
            </a:r>
            <a:endParaRPr lang="en-US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A4CE50B-F4C3-F227-598D-6C775D092F81}"/>
              </a:ext>
            </a:extLst>
          </p:cNvPr>
          <p:cNvSpPr txBox="1"/>
          <p:nvPr/>
        </p:nvSpPr>
        <p:spPr>
          <a:xfrm>
            <a:off x="1016710" y="2428855"/>
            <a:ext cx="682283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hlinkClick r:id="rId3"/>
              </a:rPr>
              <a:t>https://fiap-tech-challenge-5-ah5kxan2ynxeqgarnunaqc.streamlit.app/</a:t>
            </a:r>
            <a:endParaRPr lang="pt-BR" dirty="0"/>
          </a:p>
          <a:p>
            <a:endParaRPr lang="pt-B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1186</Words>
  <Application>Microsoft Office PowerPoint</Application>
  <PresentationFormat>Apresentação na tela (16:9)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7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Passos Mágicos - Datathon PosTech</dc:title>
  <dc:subject>PptxGenJS Presentation</dc:subject>
  <dc:creator>PptxGenJS</dc:creator>
  <cp:lastModifiedBy>LUIS AMARAL</cp:lastModifiedBy>
  <cp:revision>10</cp:revision>
  <dcterms:created xsi:type="dcterms:W3CDTF">2026-05-11T23:49:06Z</dcterms:created>
  <dcterms:modified xsi:type="dcterms:W3CDTF">2026-05-14T01:18:52Z</dcterms:modified>
</cp:coreProperties>
</file>